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Lilita One" charset="1" panose="02000000000000000000"/>
      <p:regular r:id="rId15"/>
    </p:embeddedFont>
    <p:embeddedFont>
      <p:font typeface="Shrikhand" charset="1" panose="02000000000000000000"/>
      <p:regular r:id="rId16"/>
    </p:embeddedFont>
    <p:embeddedFont>
      <p:font typeface="Horizon" charset="1" panose="02000500000000000000"/>
      <p:regular r:id="rId17"/>
    </p:embeddedFont>
    <p:embeddedFont>
      <p:font typeface="Bricolage Grotesque Bold" charset="1" panose="020B0605040402000204"/>
      <p:regular r:id="rId18"/>
    </p:embeddedFont>
    <p:embeddedFont>
      <p:font typeface="Courier Prime Bold" charset="1" panose="00000809000000000000"/>
      <p:regular r:id="rId19"/>
    </p:embeddedFont>
    <p:embeddedFont>
      <p:font typeface="Abril Fatface" charset="1" panose="02000503000000020003"/>
      <p:regular r:id="rId20"/>
    </p:embeddedFont>
    <p:embeddedFont>
      <p:font typeface="Yeseva One" charset="1" panose="00000500000000000000"/>
      <p:regular r:id="rId21"/>
    </p:embeddedFont>
    <p:embeddedFont>
      <p:font typeface="Bricolage Grotesque" charset="1" panose="020B060504040200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svg" Type="http://schemas.openxmlformats.org/officeDocument/2006/relationships/image"/><Relationship Id="rId2" Target="../media/image14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svg" Type="http://schemas.openxmlformats.org/officeDocument/2006/relationships/image"/><Relationship Id="rId9" Target="../media/image1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25480" y="1532811"/>
            <a:ext cx="6725660" cy="7324977"/>
          </a:xfrm>
          <a:custGeom>
            <a:avLst/>
            <a:gdLst/>
            <a:ahLst/>
            <a:cxnLst/>
            <a:rect r="r" b="b" t="t" l="l"/>
            <a:pathLst>
              <a:path h="7324977" w="6725660">
                <a:moveTo>
                  <a:pt x="0" y="0"/>
                </a:moveTo>
                <a:lnTo>
                  <a:pt x="6725660" y="0"/>
                </a:lnTo>
                <a:lnTo>
                  <a:pt x="6725660" y="7324976"/>
                </a:lnTo>
                <a:lnTo>
                  <a:pt x="0" y="73249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189460" y="7195838"/>
            <a:ext cx="10087917" cy="423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9"/>
              </a:lnSpc>
            </a:pPr>
            <a:r>
              <a:rPr lang="en-US" sz="2463">
                <a:solidFill>
                  <a:srgbClr val="545454"/>
                </a:solidFill>
                <a:latin typeface="Lilita One"/>
                <a:ea typeface="Lilita One"/>
                <a:cs typeface="Lilita One"/>
                <a:sym typeface="Lilita One"/>
              </a:rPr>
              <a:t>Turning purchase data into actionable business insights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118390" y="6198446"/>
            <a:ext cx="11050063" cy="10545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6171">
                <a:solidFill>
                  <a:srgbClr val="00691D"/>
                </a:solidFill>
                <a:latin typeface="Shrikhand"/>
                <a:ea typeface="Shrikhand"/>
                <a:cs typeface="Shrikhand"/>
                <a:sym typeface="Shrikhand"/>
              </a:rPr>
              <a:t> Revenue Drivers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39750" y="2429839"/>
            <a:ext cx="12337627" cy="435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62"/>
              </a:lnSpc>
            </a:pPr>
            <a:r>
              <a:rPr lang="en-US" sz="8115">
                <a:solidFill>
                  <a:srgbClr val="00691D"/>
                </a:solidFill>
                <a:latin typeface="Horizon"/>
                <a:ea typeface="Horizon"/>
                <a:cs typeface="Horizon"/>
                <a:sym typeface="Horizon"/>
              </a:rPr>
              <a:t>Customer Behavior</a:t>
            </a:r>
          </a:p>
          <a:p>
            <a:pPr algn="l">
              <a:lnSpc>
                <a:spcPts val="11362"/>
              </a:lnSpc>
            </a:pPr>
            <a:r>
              <a:rPr lang="en-US" sz="8115">
                <a:solidFill>
                  <a:srgbClr val="00691D"/>
                </a:solidFill>
                <a:latin typeface="Horizon"/>
                <a:ea typeface="Horizon"/>
                <a:cs typeface="Horizon"/>
                <a:sym typeface="Horizon"/>
              </a:rPr>
              <a:t>                          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233418" y="5132924"/>
            <a:ext cx="785932" cy="1419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581"/>
              </a:lnSpc>
              <a:spcBef>
                <a:spcPct val="0"/>
              </a:spcBef>
            </a:pPr>
            <a:r>
              <a:rPr lang="en-US" b="true" sz="8272">
                <a:solidFill>
                  <a:srgbClr val="00691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&amp;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623099" y="8951602"/>
            <a:ext cx="2193131" cy="306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545454"/>
                </a:solidFill>
                <a:latin typeface="Courier Prime Bold"/>
                <a:ea typeface="Courier Prime Bold"/>
                <a:cs typeface="Courier Prime Bold"/>
                <a:sym typeface="Courier Prime Bold"/>
              </a:rPr>
              <a:t>by Apoorv Sharma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9681" y="2610266"/>
            <a:ext cx="5270224" cy="5107326"/>
          </a:xfrm>
          <a:custGeom>
            <a:avLst/>
            <a:gdLst/>
            <a:ahLst/>
            <a:cxnLst/>
            <a:rect r="r" b="b" t="t" l="l"/>
            <a:pathLst>
              <a:path h="5107326" w="5270224">
                <a:moveTo>
                  <a:pt x="0" y="0"/>
                </a:moveTo>
                <a:lnTo>
                  <a:pt x="5270225" y="0"/>
                </a:lnTo>
                <a:lnTo>
                  <a:pt x="5270225" y="5107326"/>
                </a:lnTo>
                <a:lnTo>
                  <a:pt x="0" y="51073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29681" y="3321914"/>
            <a:ext cx="998037" cy="655075"/>
          </a:xfrm>
          <a:custGeom>
            <a:avLst/>
            <a:gdLst/>
            <a:ahLst/>
            <a:cxnLst/>
            <a:rect r="r" b="b" t="t" l="l"/>
            <a:pathLst>
              <a:path h="655075" w="998037">
                <a:moveTo>
                  <a:pt x="0" y="0"/>
                </a:moveTo>
                <a:lnTo>
                  <a:pt x="998038" y="0"/>
                </a:lnTo>
                <a:lnTo>
                  <a:pt x="998038" y="655076"/>
                </a:lnTo>
                <a:lnTo>
                  <a:pt x="0" y="6550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81213" y="3792327"/>
            <a:ext cx="5717078" cy="288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sz="7500">
                <a:solidFill>
                  <a:srgbClr val="00691D"/>
                </a:solidFill>
                <a:latin typeface="Abril Fatface"/>
                <a:ea typeface="Abril Fatface"/>
                <a:cs typeface="Abril Fatface"/>
                <a:sym typeface="Abril Fatface"/>
              </a:rPr>
              <a:t>Business Context &amp; Objective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75667" y="2486441"/>
            <a:ext cx="10757508" cy="3131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8373"/>
              </a:lnSpc>
            </a:pPr>
            <a:r>
              <a:rPr lang="en-US" sz="598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Why this analysis was done</a:t>
            </a:r>
          </a:p>
          <a:p>
            <a:pPr algn="just">
              <a:lnSpc>
                <a:spcPts val="4071"/>
              </a:lnSpc>
            </a:pPr>
            <a:r>
              <a:rPr lang="en-US" sz="2908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business wanted to understand what drives revenue, who its most valuable customers are, and how discounts and subscriptions influence purchasing behavior.</a:t>
            </a:r>
          </a:p>
          <a:p>
            <a:pPr algn="just">
              <a:lnSpc>
                <a:spcPts val="4231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6975667" y="6659635"/>
            <a:ext cx="9080203" cy="174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3534" indent="-271767" lvl="1">
              <a:lnSpc>
                <a:spcPts val="3524"/>
              </a:lnSpc>
              <a:buFont typeface="Arial"/>
              <a:buChar char="•"/>
            </a:pPr>
            <a:r>
              <a:rPr lang="en-US" b="true" sz="2517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Are we dependent on repeat customers?</a:t>
            </a:r>
          </a:p>
          <a:p>
            <a:pPr algn="l" marL="543534" indent="-271767" lvl="1">
              <a:lnSpc>
                <a:spcPts val="3524"/>
              </a:lnSpc>
              <a:buFont typeface="Arial"/>
              <a:buChar char="•"/>
            </a:pPr>
            <a:r>
              <a:rPr lang="en-US" b="true" sz="2517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customer segments drive high-value purchases?</a:t>
            </a:r>
          </a:p>
          <a:p>
            <a:pPr algn="l" marL="543534" indent="-271767" lvl="1">
              <a:lnSpc>
                <a:spcPts val="3524"/>
              </a:lnSpc>
              <a:buFont typeface="Arial"/>
              <a:buChar char="•"/>
            </a:pPr>
            <a:r>
              <a:rPr lang="en-US" b="true" sz="2517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Do discounts grow revenue or dilute value?</a:t>
            </a:r>
          </a:p>
          <a:p>
            <a:pPr algn="l" marL="543534" indent="-271767" lvl="1">
              <a:lnSpc>
                <a:spcPts val="3524"/>
              </a:lnSpc>
              <a:buFont typeface="Arial"/>
              <a:buChar char="•"/>
            </a:pPr>
            <a:r>
              <a:rPr lang="en-US" b="true" sz="2517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Which products and experiences create loyalty?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52115" y="5797334"/>
            <a:ext cx="9066736" cy="663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6"/>
              </a:lnSpc>
              <a:spcBef>
                <a:spcPct val="0"/>
              </a:spcBef>
            </a:pPr>
            <a:r>
              <a:rPr lang="en-US" b="true" sz="3882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Core Questions Answered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49182" y="442415"/>
            <a:ext cx="5097162" cy="4939613"/>
          </a:xfrm>
          <a:custGeom>
            <a:avLst/>
            <a:gdLst/>
            <a:ahLst/>
            <a:cxnLst/>
            <a:rect r="r" b="b" t="t" l="l"/>
            <a:pathLst>
              <a:path h="4939613" w="5097162">
                <a:moveTo>
                  <a:pt x="0" y="0"/>
                </a:moveTo>
                <a:lnTo>
                  <a:pt x="5097162" y="0"/>
                </a:lnTo>
                <a:lnTo>
                  <a:pt x="5097162" y="4939614"/>
                </a:lnTo>
                <a:lnTo>
                  <a:pt x="0" y="49396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50918" y="2013778"/>
            <a:ext cx="6715781" cy="4362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0"/>
              </a:lnSpc>
            </a:pPr>
            <a:r>
              <a:rPr lang="en-US" sz="7500">
                <a:solidFill>
                  <a:srgbClr val="00691D"/>
                </a:solidFill>
                <a:latin typeface="Abril Fatface"/>
                <a:ea typeface="Abril Fatface"/>
                <a:cs typeface="Abril Fatface"/>
                <a:sym typeface="Abril Fatface"/>
              </a:rPr>
              <a:t>Data Scope &amp; Analytical Lens</a:t>
            </a:r>
          </a:p>
          <a:p>
            <a:pPr algn="l">
              <a:lnSpc>
                <a:spcPts val="6750"/>
              </a:lnSpc>
            </a:pPr>
          </a:p>
          <a:p>
            <a:pPr algn="l">
              <a:lnSpc>
                <a:spcPts val="675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738019" y="3240168"/>
            <a:ext cx="10943499" cy="2141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00"/>
              </a:lnSpc>
              <a:spcBef>
                <a:spcPct val="0"/>
              </a:spcBef>
            </a:pPr>
            <a:r>
              <a:rPr lang="en-US" sz="6214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Dataset Snapshot</a:t>
            </a:r>
          </a:p>
          <a:p>
            <a:pPr algn="l">
              <a:lnSpc>
                <a:spcPts val="4039"/>
              </a:lnSpc>
              <a:spcBef>
                <a:spcPct val="0"/>
              </a:spcBef>
            </a:pPr>
            <a:r>
              <a:rPr lang="en-US" b="true" sz="2885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3,900 purchases</a:t>
            </a:r>
            <a:r>
              <a:rPr lang="en-US" sz="2885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| ~</a:t>
            </a:r>
            <a:r>
              <a:rPr lang="en-US" b="true" sz="2885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233K total revenue</a:t>
            </a:r>
          </a:p>
          <a:p>
            <a:pPr algn="l">
              <a:lnSpc>
                <a:spcPts val="4039"/>
              </a:lnSpc>
              <a:spcBef>
                <a:spcPct val="0"/>
              </a:spcBef>
            </a:pPr>
            <a:r>
              <a:rPr lang="en-US" sz="2885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Customer demographics, product attributes, discounts, ratings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38019" y="5913123"/>
            <a:ext cx="10038557" cy="2518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6"/>
              </a:lnSpc>
              <a:spcBef>
                <a:spcPct val="0"/>
              </a:spcBef>
            </a:pPr>
            <a:r>
              <a:rPr lang="en-US" sz="6004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Analytical Lens</a:t>
            </a:r>
          </a:p>
          <a:p>
            <a:pPr algn="l" marL="583545" indent="-291773" lvl="1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Focused on revenue contribution (%), not just totals</a:t>
            </a:r>
          </a:p>
          <a:p>
            <a:pPr algn="l" marL="583545" indent="-291773" lvl="1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Compared behavioral segments, not isolated metrics</a:t>
            </a:r>
          </a:p>
          <a:p>
            <a:pPr algn="l" marL="583545" indent="-291773" lvl="1">
              <a:lnSpc>
                <a:spcPts val="3783"/>
              </a:lnSpc>
              <a:buFont typeface="Arial"/>
              <a:buChar char="•"/>
            </a:pPr>
            <a:r>
              <a:rPr lang="en-US" sz="2702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Prioritized decision-making insights over descriptive charts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529681" y="1028700"/>
            <a:ext cx="998037" cy="655075"/>
          </a:xfrm>
          <a:custGeom>
            <a:avLst/>
            <a:gdLst/>
            <a:ahLst/>
            <a:cxnLst/>
            <a:rect r="r" b="b" t="t" l="l"/>
            <a:pathLst>
              <a:path h="655075" w="998037">
                <a:moveTo>
                  <a:pt x="0" y="0"/>
                </a:moveTo>
                <a:lnTo>
                  <a:pt x="998038" y="0"/>
                </a:lnTo>
                <a:lnTo>
                  <a:pt x="998038" y="655075"/>
                </a:lnTo>
                <a:lnTo>
                  <a:pt x="0" y="6550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3757" y="2789676"/>
            <a:ext cx="4063853" cy="2423309"/>
          </a:xfrm>
          <a:custGeom>
            <a:avLst/>
            <a:gdLst/>
            <a:ahLst/>
            <a:cxnLst/>
            <a:rect r="r" b="b" t="t" l="l"/>
            <a:pathLst>
              <a:path h="2423309" w="4063853">
                <a:moveTo>
                  <a:pt x="0" y="0"/>
                </a:moveTo>
                <a:lnTo>
                  <a:pt x="4063853" y="0"/>
                </a:lnTo>
                <a:lnTo>
                  <a:pt x="4063853" y="2423310"/>
                </a:lnTo>
                <a:lnTo>
                  <a:pt x="0" y="24233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000"/>
            </a:blip>
            <a:stretch>
              <a:fillRect l="-3264" t="0" r="-11028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3757" y="5764015"/>
            <a:ext cx="7775179" cy="3373103"/>
          </a:xfrm>
          <a:custGeom>
            <a:avLst/>
            <a:gdLst/>
            <a:ahLst/>
            <a:cxnLst/>
            <a:rect r="r" b="b" t="t" l="l"/>
            <a:pathLst>
              <a:path h="3373103" w="7775179">
                <a:moveTo>
                  <a:pt x="0" y="0"/>
                </a:moveTo>
                <a:lnTo>
                  <a:pt x="7775178" y="0"/>
                </a:lnTo>
                <a:lnTo>
                  <a:pt x="7775178" y="3373103"/>
                </a:lnTo>
                <a:lnTo>
                  <a:pt x="0" y="33731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9000"/>
            </a:blip>
            <a:stretch>
              <a:fillRect l="-1904" t="0" r="-564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42395" y="2789676"/>
            <a:ext cx="3206541" cy="2423309"/>
          </a:xfrm>
          <a:custGeom>
            <a:avLst/>
            <a:gdLst/>
            <a:ahLst/>
            <a:cxnLst/>
            <a:rect r="r" b="b" t="t" l="l"/>
            <a:pathLst>
              <a:path h="2423309" w="3206541">
                <a:moveTo>
                  <a:pt x="0" y="0"/>
                </a:moveTo>
                <a:lnTo>
                  <a:pt x="3206540" y="0"/>
                </a:lnTo>
                <a:lnTo>
                  <a:pt x="3206540" y="2423310"/>
                </a:lnTo>
                <a:lnTo>
                  <a:pt x="0" y="24233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000"/>
            </a:blip>
            <a:stretch>
              <a:fillRect l="-23636" t="-16358" r="-3006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893630" y="1227570"/>
            <a:ext cx="16990942" cy="866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7000">
                <a:solidFill>
                  <a:srgbClr val="00691D"/>
                </a:solidFill>
                <a:latin typeface="Abril Fatface"/>
                <a:ea typeface="Abril Fatface"/>
                <a:cs typeface="Abril Fatface"/>
                <a:sym typeface="Abril Fatface"/>
              </a:rPr>
              <a:t>Revenue Is Extremely Repeat-Driven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69227" y="2665851"/>
            <a:ext cx="8127449" cy="2407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0"/>
              </a:lnSpc>
              <a:spcBef>
                <a:spcPct val="0"/>
              </a:spcBef>
            </a:pPr>
            <a:r>
              <a:rPr lang="en-US" sz="590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What the data shows</a:t>
            </a:r>
          </a:p>
          <a:p>
            <a:pPr algn="just">
              <a:lnSpc>
                <a:spcPts val="3596"/>
              </a:lnSpc>
              <a:spcBef>
                <a:spcPct val="0"/>
              </a:spcBef>
            </a:pPr>
            <a:r>
              <a:rPr lang="en-US" b="true" sz="2568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~98% </a:t>
            </a:r>
            <a:r>
              <a:rPr lang="en-US" sz="2568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of revenue comes from repeat customers</a:t>
            </a:r>
          </a:p>
          <a:p>
            <a:pPr algn="just">
              <a:lnSpc>
                <a:spcPts val="3596"/>
              </a:lnSpc>
              <a:spcBef>
                <a:spcPct val="0"/>
              </a:spcBef>
            </a:pPr>
            <a:r>
              <a:rPr lang="en-US" sz="2568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Average order value is stable (~$60)</a:t>
            </a:r>
          </a:p>
          <a:p>
            <a:pPr algn="just">
              <a:lnSpc>
                <a:spcPts val="3596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469227" y="4948990"/>
            <a:ext cx="7368308" cy="238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0"/>
              </a:lnSpc>
              <a:spcBef>
                <a:spcPct val="0"/>
              </a:spcBef>
            </a:pPr>
            <a:r>
              <a:rPr lang="en-US" sz="590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Why this matters ?</a:t>
            </a:r>
          </a:p>
          <a:p>
            <a:pPr algn="just">
              <a:lnSpc>
                <a:spcPts val="3588"/>
              </a:lnSpc>
              <a:spcBef>
                <a:spcPct val="0"/>
              </a:spcBef>
            </a:pPr>
            <a:r>
              <a:rPr lang="en-US" sz="2563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The business has </a:t>
            </a:r>
            <a:r>
              <a:rPr lang="en-US" b="true" sz="2563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strong retention</a:t>
            </a:r>
            <a:r>
              <a:rPr lang="en-US" sz="2563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, but is also highly exposed if repeat behavior drops.</a:t>
            </a:r>
          </a:p>
          <a:p>
            <a:pPr algn="just">
              <a:lnSpc>
                <a:spcPts val="3448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9469227" y="7214504"/>
            <a:ext cx="7368308" cy="1922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60"/>
              </a:lnSpc>
              <a:spcBef>
                <a:spcPct val="0"/>
              </a:spcBef>
            </a:pPr>
            <a:r>
              <a:rPr lang="en-US" sz="590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Strategic Signal</a:t>
            </a:r>
          </a:p>
          <a:p>
            <a:pPr algn="just">
              <a:lnSpc>
                <a:spcPts val="3448"/>
              </a:lnSpc>
              <a:spcBef>
                <a:spcPct val="0"/>
              </a:spcBef>
            </a:pPr>
            <a:r>
              <a:rPr lang="en-US" sz="2463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Retention is a strength — but need to work on </a:t>
            </a:r>
            <a:r>
              <a:rPr lang="en-US" b="true" sz="2463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acquisition diversification.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92328" y="360567"/>
            <a:ext cx="1272744" cy="835383"/>
          </a:xfrm>
          <a:custGeom>
            <a:avLst/>
            <a:gdLst/>
            <a:ahLst/>
            <a:cxnLst/>
            <a:rect r="r" b="b" t="t" l="l"/>
            <a:pathLst>
              <a:path h="835383" w="1272744">
                <a:moveTo>
                  <a:pt x="0" y="0"/>
                </a:moveTo>
                <a:lnTo>
                  <a:pt x="1272744" y="0"/>
                </a:lnTo>
                <a:lnTo>
                  <a:pt x="1272744" y="835383"/>
                </a:lnTo>
                <a:lnTo>
                  <a:pt x="0" y="8353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24184" y="3421367"/>
            <a:ext cx="9325030" cy="4371531"/>
          </a:xfrm>
          <a:custGeom>
            <a:avLst/>
            <a:gdLst/>
            <a:ahLst/>
            <a:cxnLst/>
            <a:rect r="r" b="b" t="t" l="l"/>
            <a:pathLst>
              <a:path h="4371531" w="9325030">
                <a:moveTo>
                  <a:pt x="0" y="0"/>
                </a:moveTo>
                <a:lnTo>
                  <a:pt x="9325031" y="0"/>
                </a:lnTo>
                <a:lnTo>
                  <a:pt x="9325031" y="4371531"/>
                </a:lnTo>
                <a:lnTo>
                  <a:pt x="0" y="43715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8396" b="-239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8736" y="966733"/>
            <a:ext cx="16990942" cy="166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7000">
                <a:solidFill>
                  <a:srgbClr val="00691D"/>
                </a:solidFill>
                <a:latin typeface="Abril Fatface"/>
                <a:ea typeface="Abril Fatface"/>
                <a:cs typeface="Abril Fatface"/>
                <a:sym typeface="Abril Fatface"/>
              </a:rPr>
              <a:t>High-Value Customers Are Not the Most Frequent Buyers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09004" y="3307067"/>
            <a:ext cx="7400674" cy="322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Key Observation</a:t>
            </a:r>
          </a:p>
          <a:p>
            <a:pPr algn="just" marL="554632" indent="-277316" lvl="1">
              <a:lnSpc>
                <a:spcPts val="35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68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~Young Adults &amp; Adults</a:t>
            </a:r>
            <a:r>
              <a:rPr lang="en-US" sz="2568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spend more per transaction</a:t>
            </a:r>
          </a:p>
          <a:p>
            <a:pPr algn="just" marL="554632" indent="-277316" lvl="1">
              <a:lnSpc>
                <a:spcPts val="3596"/>
              </a:lnSpc>
              <a:spcBef>
                <a:spcPct val="0"/>
              </a:spcBef>
              <a:buFont typeface="Arial"/>
              <a:buChar char="•"/>
            </a:pPr>
            <a:r>
              <a:rPr lang="en-US" sz="2568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High-frequency buyers tend to spend less per order</a:t>
            </a:r>
          </a:p>
          <a:p>
            <a:pPr algn="just">
              <a:lnSpc>
                <a:spcPts val="359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509004" y="6706539"/>
            <a:ext cx="7071736" cy="316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7"/>
              </a:lnSpc>
            </a:pPr>
            <a:r>
              <a:rPr lang="en-US" sz="5362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What this means</a:t>
            </a:r>
          </a:p>
          <a:p>
            <a:pPr algn="just">
              <a:lnSpc>
                <a:spcPts val="3863"/>
              </a:lnSpc>
              <a:spcBef>
                <a:spcPct val="0"/>
              </a:spcBef>
            </a:pPr>
            <a:r>
              <a:rPr lang="en-US" b="true" sz="2759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There are two different customer types:</a:t>
            </a:r>
          </a:p>
          <a:p>
            <a:pPr algn="just">
              <a:lnSpc>
                <a:spcPts val="3443"/>
              </a:lnSpc>
              <a:spcBef>
                <a:spcPct val="0"/>
              </a:spcBef>
            </a:pPr>
          </a:p>
          <a:p>
            <a:pPr algn="just" marL="531099" indent="-265550" lvl="1">
              <a:lnSpc>
                <a:spcPts val="3443"/>
              </a:lnSpc>
              <a:spcBef>
                <a:spcPct val="0"/>
              </a:spcBef>
              <a:buFont typeface="Arial"/>
              <a:buChar char="•"/>
            </a:pPr>
            <a:r>
              <a:rPr lang="en-US" sz="2459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Value-driven frequent shoppers</a:t>
            </a:r>
          </a:p>
          <a:p>
            <a:pPr algn="just" marL="531099" indent="-265550" lvl="1">
              <a:lnSpc>
                <a:spcPts val="3443"/>
              </a:lnSpc>
              <a:spcBef>
                <a:spcPct val="0"/>
              </a:spcBef>
              <a:buFont typeface="Arial"/>
              <a:buChar char="•"/>
            </a:pPr>
            <a:r>
              <a:rPr lang="en-US" sz="2459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Premium, low-frequency high spenders</a:t>
            </a:r>
          </a:p>
          <a:p>
            <a:pPr algn="just">
              <a:lnSpc>
                <a:spcPts val="344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159193" y="8067860"/>
            <a:ext cx="8255014" cy="1806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Business Implication</a:t>
            </a:r>
          </a:p>
          <a:p>
            <a:pPr algn="just">
              <a:lnSpc>
                <a:spcPts val="3448"/>
              </a:lnSpc>
              <a:spcBef>
                <a:spcPct val="0"/>
              </a:spcBef>
            </a:pPr>
            <a:r>
              <a:rPr lang="en-US" sz="2463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Pricing, discounts, and communication should not be one-size-fits-all.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72304" y="504716"/>
            <a:ext cx="798313" cy="523984"/>
          </a:xfrm>
          <a:custGeom>
            <a:avLst/>
            <a:gdLst/>
            <a:ahLst/>
            <a:cxnLst/>
            <a:rect r="r" b="b" t="t" l="l"/>
            <a:pathLst>
              <a:path h="523984" w="798313">
                <a:moveTo>
                  <a:pt x="0" y="0"/>
                </a:moveTo>
                <a:lnTo>
                  <a:pt x="798313" y="0"/>
                </a:lnTo>
                <a:lnTo>
                  <a:pt x="798313" y="523984"/>
                </a:lnTo>
                <a:lnTo>
                  <a:pt x="0" y="5239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8736" y="1228725"/>
            <a:ext cx="16990942" cy="166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7000">
                <a:solidFill>
                  <a:srgbClr val="00691D"/>
                </a:solidFill>
                <a:latin typeface="Abril Fatface"/>
                <a:ea typeface="Abril Fatface"/>
                <a:cs typeface="Abril Fatface"/>
                <a:sym typeface="Abril Fatface"/>
              </a:rPr>
              <a:t>Subscriptions Stabilize Revenue but Are Underleveraged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72304" y="504716"/>
            <a:ext cx="798313" cy="523984"/>
          </a:xfrm>
          <a:custGeom>
            <a:avLst/>
            <a:gdLst/>
            <a:ahLst/>
            <a:cxnLst/>
            <a:rect r="r" b="b" t="t" l="l"/>
            <a:pathLst>
              <a:path h="523984" w="798313">
                <a:moveTo>
                  <a:pt x="0" y="0"/>
                </a:moveTo>
                <a:lnTo>
                  <a:pt x="798313" y="0"/>
                </a:lnTo>
                <a:lnTo>
                  <a:pt x="798313" y="523984"/>
                </a:lnTo>
                <a:lnTo>
                  <a:pt x="0" y="523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71460" y="4419496"/>
            <a:ext cx="8010131" cy="3489805"/>
          </a:xfrm>
          <a:custGeom>
            <a:avLst/>
            <a:gdLst/>
            <a:ahLst/>
            <a:cxnLst/>
            <a:rect r="r" b="b" t="t" l="l"/>
            <a:pathLst>
              <a:path h="3489805" w="8010131">
                <a:moveTo>
                  <a:pt x="0" y="0"/>
                </a:moveTo>
                <a:lnTo>
                  <a:pt x="8010131" y="0"/>
                </a:lnTo>
                <a:lnTo>
                  <a:pt x="8010131" y="3489806"/>
                </a:lnTo>
                <a:lnTo>
                  <a:pt x="0" y="34898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79000"/>
            </a:blip>
            <a:stretch>
              <a:fillRect l="-5968" t="0" r="-5742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563735" y="3750660"/>
            <a:ext cx="7864681" cy="3277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4"/>
              </a:lnSpc>
              <a:spcBef>
                <a:spcPct val="0"/>
              </a:spcBef>
            </a:pPr>
            <a:r>
              <a:rPr lang="en-US" sz="556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What data shows</a:t>
            </a:r>
          </a:p>
          <a:p>
            <a:pPr algn="just" marL="560741" indent="-280371" lvl="1">
              <a:lnSpc>
                <a:spcPts val="3636"/>
              </a:lnSpc>
              <a:buFont typeface="Arial"/>
              <a:buChar char="•"/>
            </a:pPr>
            <a:r>
              <a:rPr lang="en-US" sz="2597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Subscribers contribute a </a:t>
            </a:r>
            <a:r>
              <a:rPr lang="en-US" b="true" sz="2597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disproportionate share</a:t>
            </a:r>
            <a:r>
              <a:rPr lang="en-US" sz="2597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of revenue</a:t>
            </a:r>
          </a:p>
          <a:p>
            <a:pPr algn="just" marL="560741" indent="-280371" lvl="1">
              <a:lnSpc>
                <a:spcPts val="3636"/>
              </a:lnSpc>
              <a:buFont typeface="Arial"/>
              <a:buChar char="•"/>
            </a:pPr>
            <a:r>
              <a:rPr lang="en-US" b="true" sz="2597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Non-subscribers </a:t>
            </a:r>
            <a:r>
              <a:rPr lang="en-US" sz="2597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still form a large, untapped base</a:t>
            </a:r>
          </a:p>
          <a:p>
            <a:pPr algn="just">
              <a:lnSpc>
                <a:spcPts val="3636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563735" y="6914131"/>
            <a:ext cx="7864681" cy="2691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1"/>
              </a:lnSpc>
              <a:spcBef>
                <a:spcPct val="0"/>
              </a:spcBef>
            </a:pPr>
            <a:r>
              <a:rPr lang="en-US" sz="5358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Opportunity</a:t>
            </a:r>
          </a:p>
          <a:p>
            <a:pPr algn="just">
              <a:lnSpc>
                <a:spcPts val="3486"/>
              </a:lnSpc>
              <a:spcBef>
                <a:spcPct val="0"/>
              </a:spcBef>
            </a:pPr>
            <a:r>
              <a:rPr lang="en-US" sz="2490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Converting high-spending non-subscribers could significantly improve revenue predictability.</a:t>
            </a:r>
          </a:p>
          <a:p>
            <a:pPr algn="just">
              <a:lnSpc>
                <a:spcPts val="3486"/>
              </a:lnSpc>
              <a:spcBef>
                <a:spcPct val="0"/>
              </a:spcBef>
            </a:pPr>
          </a:p>
          <a:p>
            <a:pPr algn="just">
              <a:lnSpc>
                <a:spcPts val="34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18736" y="966733"/>
            <a:ext cx="16990942" cy="166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7000">
                <a:solidFill>
                  <a:srgbClr val="00691D"/>
                </a:solidFill>
                <a:latin typeface="Abril Fatface"/>
                <a:ea typeface="Abril Fatface"/>
                <a:cs typeface="Abril Fatface"/>
                <a:sym typeface="Abril Fatface"/>
              </a:rPr>
              <a:t> Discounts Drive Volume — Especially in Clothing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72304" y="504716"/>
            <a:ext cx="798313" cy="523984"/>
          </a:xfrm>
          <a:custGeom>
            <a:avLst/>
            <a:gdLst/>
            <a:ahLst/>
            <a:cxnLst/>
            <a:rect r="r" b="b" t="t" l="l"/>
            <a:pathLst>
              <a:path h="523984" w="798313">
                <a:moveTo>
                  <a:pt x="0" y="0"/>
                </a:moveTo>
                <a:lnTo>
                  <a:pt x="798313" y="0"/>
                </a:lnTo>
                <a:lnTo>
                  <a:pt x="798313" y="523984"/>
                </a:lnTo>
                <a:lnTo>
                  <a:pt x="0" y="523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70617" y="3089091"/>
            <a:ext cx="6732631" cy="6731127"/>
          </a:xfrm>
          <a:custGeom>
            <a:avLst/>
            <a:gdLst/>
            <a:ahLst/>
            <a:cxnLst/>
            <a:rect r="r" b="b" t="t" l="l"/>
            <a:pathLst>
              <a:path h="6731127" w="6732631">
                <a:moveTo>
                  <a:pt x="0" y="0"/>
                </a:moveTo>
                <a:lnTo>
                  <a:pt x="6732631" y="0"/>
                </a:lnTo>
                <a:lnTo>
                  <a:pt x="6732631" y="6731128"/>
                </a:lnTo>
                <a:lnTo>
                  <a:pt x="0" y="6731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95" t="-4296" r="-495" b="-6713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004286" y="2974791"/>
            <a:ext cx="7400674" cy="277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Key Insight</a:t>
            </a:r>
          </a:p>
          <a:p>
            <a:pPr algn="just" marL="554632" indent="-277316" lvl="1">
              <a:lnSpc>
                <a:spcPts val="3596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68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~43%</a:t>
            </a:r>
            <a:r>
              <a:rPr lang="en-US" sz="2568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of revenue is influenced by discounts</a:t>
            </a:r>
          </a:p>
          <a:p>
            <a:pPr algn="just" marL="554632" indent="-277316" lvl="1">
              <a:lnSpc>
                <a:spcPts val="3596"/>
              </a:lnSpc>
              <a:spcBef>
                <a:spcPct val="0"/>
              </a:spcBef>
              <a:buFont typeface="Arial"/>
              <a:buChar char="•"/>
            </a:pPr>
            <a:r>
              <a:rPr lang="en-US" sz="2568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Clothing alone drives </a:t>
            </a:r>
            <a:r>
              <a:rPr lang="en-US" b="true" sz="2568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~44% </a:t>
            </a:r>
            <a:r>
              <a:rPr lang="en-US" sz="2568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of discounted revenue</a:t>
            </a:r>
          </a:p>
          <a:p>
            <a:pPr algn="just">
              <a:lnSpc>
                <a:spcPts val="3596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004286" y="5634566"/>
            <a:ext cx="7400674" cy="2681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07"/>
              </a:lnSpc>
              <a:spcBef>
                <a:spcPct val="0"/>
              </a:spcBef>
            </a:pPr>
            <a:r>
              <a:rPr lang="en-US" sz="5362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Risk</a:t>
            </a:r>
          </a:p>
          <a:p>
            <a:pPr algn="just">
              <a:lnSpc>
                <a:spcPts val="3443"/>
              </a:lnSpc>
              <a:spcBef>
                <a:spcPct val="0"/>
              </a:spcBef>
            </a:pPr>
            <a:r>
              <a:rPr lang="en-US" sz="2459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Discounts work — but </a:t>
            </a:r>
            <a:r>
              <a:rPr lang="en-US" b="true" sz="2459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overuse </a:t>
            </a:r>
            <a:r>
              <a:rPr lang="en-US" sz="2459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may </a:t>
            </a:r>
            <a:r>
              <a:rPr lang="en-US" b="true" sz="2459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compress margins</a:t>
            </a:r>
            <a:r>
              <a:rPr lang="en-US" sz="2459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 in top categories.</a:t>
            </a:r>
          </a:p>
          <a:p>
            <a:pPr algn="just">
              <a:lnSpc>
                <a:spcPts val="3443"/>
              </a:lnSpc>
              <a:spcBef>
                <a:spcPct val="0"/>
              </a:spcBef>
            </a:pPr>
          </a:p>
          <a:p>
            <a:pPr algn="just">
              <a:lnSpc>
                <a:spcPts val="344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9004286" y="7843131"/>
            <a:ext cx="7400674" cy="2235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Smart Move</a:t>
            </a:r>
          </a:p>
          <a:p>
            <a:pPr algn="just">
              <a:lnSpc>
                <a:spcPts val="3448"/>
              </a:lnSpc>
              <a:spcBef>
                <a:spcPct val="0"/>
              </a:spcBef>
            </a:pPr>
            <a:r>
              <a:rPr lang="en-US" b="true" sz="2463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Use discounts selectively </a:t>
            </a:r>
            <a:r>
              <a:rPr lang="en-US" sz="2463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on high-margin or inventory-heavy categories, not blindly.</a:t>
            </a:r>
          </a:p>
          <a:p>
            <a:pPr algn="just">
              <a:lnSpc>
                <a:spcPts val="34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12423" y="966733"/>
            <a:ext cx="12463155" cy="1666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7000">
                <a:solidFill>
                  <a:srgbClr val="00691D"/>
                </a:solidFill>
                <a:latin typeface="Abril Fatface"/>
                <a:ea typeface="Abril Fatface"/>
                <a:cs typeface="Abril Fatface"/>
                <a:sym typeface="Abril Fatface"/>
              </a:rPr>
              <a:t> Quality Signals &amp; Actionable Recommendations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114110" y="766708"/>
            <a:ext cx="798313" cy="523984"/>
          </a:xfrm>
          <a:custGeom>
            <a:avLst/>
            <a:gdLst/>
            <a:ahLst/>
            <a:cxnLst/>
            <a:rect r="r" b="b" t="t" l="l"/>
            <a:pathLst>
              <a:path h="523984" w="798313">
                <a:moveTo>
                  <a:pt x="0" y="0"/>
                </a:moveTo>
                <a:lnTo>
                  <a:pt x="798313" y="0"/>
                </a:lnTo>
                <a:lnTo>
                  <a:pt x="798313" y="523984"/>
                </a:lnTo>
                <a:lnTo>
                  <a:pt x="0" y="5239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681553" y="3335492"/>
            <a:ext cx="7400674" cy="2774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0"/>
              </a:lnSpc>
              <a:spcBef>
                <a:spcPct val="0"/>
              </a:spcBef>
            </a:pPr>
            <a:r>
              <a:rPr lang="en-US" sz="550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Quality Insight</a:t>
            </a:r>
          </a:p>
          <a:p>
            <a:pPr algn="just">
              <a:lnSpc>
                <a:spcPts val="3596"/>
              </a:lnSpc>
              <a:spcBef>
                <a:spcPct val="0"/>
              </a:spcBef>
            </a:pPr>
            <a:r>
              <a:rPr lang="en-US" sz="2568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Some high-revenue products show weaker ratings, indicating potential long-term retention risk.</a:t>
            </a:r>
          </a:p>
          <a:p>
            <a:pPr algn="just">
              <a:lnSpc>
                <a:spcPts val="3596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205773" y="3633820"/>
            <a:ext cx="7048921" cy="6206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507"/>
              </a:lnSpc>
              <a:spcBef>
                <a:spcPct val="0"/>
              </a:spcBef>
            </a:pPr>
            <a:r>
              <a:rPr lang="en-US" sz="5362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Business Recommendations</a:t>
            </a:r>
          </a:p>
          <a:p>
            <a:pPr algn="just" marL="531099" indent="-265550" lvl="1">
              <a:lnSpc>
                <a:spcPts val="3443"/>
              </a:lnSpc>
              <a:spcBef>
                <a:spcPct val="0"/>
              </a:spcBef>
              <a:buFont typeface="Arial"/>
              <a:buChar char="•"/>
            </a:pPr>
            <a:r>
              <a:rPr lang="en-US" sz="2459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Strengthen </a:t>
            </a:r>
            <a:r>
              <a:rPr lang="en-US" b="true" sz="2459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quality </a:t>
            </a:r>
            <a:r>
              <a:rPr lang="en-US" sz="2459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control for </a:t>
            </a:r>
            <a:r>
              <a:rPr lang="en-US" b="true" sz="2459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high-volume products</a:t>
            </a:r>
          </a:p>
          <a:p>
            <a:pPr algn="just" marL="531099" indent="-265550" lvl="1">
              <a:lnSpc>
                <a:spcPts val="344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59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Personalize </a:t>
            </a:r>
            <a:r>
              <a:rPr lang="en-US" sz="2459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offers by customer value segment</a:t>
            </a:r>
          </a:p>
          <a:p>
            <a:pPr algn="just" marL="531099" indent="-265550" lvl="1">
              <a:lnSpc>
                <a:spcPts val="3443"/>
              </a:lnSpc>
              <a:spcBef>
                <a:spcPct val="0"/>
              </a:spcBef>
              <a:buFont typeface="Arial"/>
              <a:buChar char="•"/>
            </a:pPr>
            <a:r>
              <a:rPr lang="en-US" sz="2459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Push subscriptions for </a:t>
            </a:r>
            <a:r>
              <a:rPr lang="en-US" b="true" sz="2459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premium non-members</a:t>
            </a:r>
          </a:p>
          <a:p>
            <a:pPr algn="just" marL="531099" indent="-265550" lvl="1">
              <a:lnSpc>
                <a:spcPts val="3443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59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Balance </a:t>
            </a:r>
            <a:r>
              <a:rPr lang="en-US" sz="2459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discounts with margin awareness</a:t>
            </a:r>
          </a:p>
          <a:p>
            <a:pPr algn="just">
              <a:lnSpc>
                <a:spcPts val="3443"/>
              </a:lnSpc>
              <a:spcBef>
                <a:spcPct val="0"/>
              </a:spcBef>
            </a:pPr>
          </a:p>
          <a:p>
            <a:pPr algn="just">
              <a:lnSpc>
                <a:spcPts val="3443"/>
              </a:lnSpc>
              <a:spcBef>
                <a:spcPct val="0"/>
              </a:spcBef>
            </a:pPr>
          </a:p>
          <a:p>
            <a:pPr algn="just">
              <a:lnSpc>
                <a:spcPts val="344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681553" y="7176366"/>
            <a:ext cx="7400674" cy="2663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>
                <a:solidFill>
                  <a:srgbClr val="545454"/>
                </a:solidFill>
                <a:latin typeface="Yeseva One"/>
                <a:ea typeface="Yeseva One"/>
                <a:cs typeface="Yeseva One"/>
                <a:sym typeface="Yeseva One"/>
              </a:rPr>
              <a:t>Final Takeaway</a:t>
            </a:r>
          </a:p>
          <a:p>
            <a:pPr algn="just">
              <a:lnSpc>
                <a:spcPts val="3448"/>
              </a:lnSpc>
              <a:spcBef>
                <a:spcPct val="0"/>
              </a:spcBef>
            </a:pPr>
            <a:r>
              <a:rPr lang="en-US" b="true" sz="2463">
                <a:solidFill>
                  <a:srgbClr val="545454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Revenue growth, loyalty, and product quality must move together — not independently.</a:t>
            </a:r>
          </a:p>
          <a:p>
            <a:pPr algn="just">
              <a:lnSpc>
                <a:spcPts val="3448"/>
              </a:lnSpc>
              <a:spcBef>
                <a:spcPct val="0"/>
              </a:spcBef>
            </a:pPr>
          </a:p>
          <a:p>
            <a:pPr algn="just">
              <a:lnSpc>
                <a:spcPts val="344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33" r="0" b="-333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573162" y="-1446848"/>
            <a:ext cx="13601094" cy="13180696"/>
          </a:xfrm>
          <a:custGeom>
            <a:avLst/>
            <a:gdLst/>
            <a:ahLst/>
            <a:cxnLst/>
            <a:rect r="r" b="b" t="t" l="l"/>
            <a:pathLst>
              <a:path h="13180696" w="13601094">
                <a:moveTo>
                  <a:pt x="0" y="0"/>
                </a:moveTo>
                <a:lnTo>
                  <a:pt x="13601094" y="0"/>
                </a:lnTo>
                <a:lnTo>
                  <a:pt x="13601094" y="13180696"/>
                </a:lnTo>
                <a:lnTo>
                  <a:pt x="0" y="131806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10092" y="391484"/>
            <a:ext cx="637216" cy="637216"/>
          </a:xfrm>
          <a:custGeom>
            <a:avLst/>
            <a:gdLst/>
            <a:ahLst/>
            <a:cxnLst/>
            <a:rect r="r" b="b" t="t" l="l"/>
            <a:pathLst>
              <a:path h="637216" w="637216">
                <a:moveTo>
                  <a:pt x="0" y="0"/>
                </a:moveTo>
                <a:lnTo>
                  <a:pt x="637216" y="0"/>
                </a:lnTo>
                <a:lnTo>
                  <a:pt x="637216" y="637216"/>
                </a:lnTo>
                <a:lnTo>
                  <a:pt x="0" y="6372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324294" y="2364935"/>
            <a:ext cx="6196831" cy="6682857"/>
          </a:xfrm>
          <a:custGeom>
            <a:avLst/>
            <a:gdLst/>
            <a:ahLst/>
            <a:cxnLst/>
            <a:rect r="r" b="b" t="t" l="l"/>
            <a:pathLst>
              <a:path h="6682857" w="6196831">
                <a:moveTo>
                  <a:pt x="0" y="0"/>
                </a:moveTo>
                <a:lnTo>
                  <a:pt x="6196831" y="0"/>
                </a:lnTo>
                <a:lnTo>
                  <a:pt x="6196831" y="6682857"/>
                </a:lnTo>
                <a:lnTo>
                  <a:pt x="0" y="668285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15778" y="3798614"/>
            <a:ext cx="7901710" cy="38085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3"/>
              </a:lnSpc>
            </a:pPr>
            <a:r>
              <a:rPr lang="en-US" sz="18412" b="true">
                <a:solidFill>
                  <a:srgbClr val="00691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</a:t>
            </a:r>
          </a:p>
          <a:p>
            <a:pPr algn="l">
              <a:lnSpc>
                <a:spcPts val="13993"/>
              </a:lnSpc>
            </a:pPr>
            <a:r>
              <a:rPr lang="en-US" sz="18412" b="true">
                <a:solidFill>
                  <a:srgbClr val="00691D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5778" y="7839173"/>
            <a:ext cx="7628222" cy="316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A clea</a:t>
            </a:r>
            <a:r>
              <a:rPr lang="en-US" sz="1800">
                <a:solidFill>
                  <a:srgbClr val="545454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 brand strategy fuels recognition, loyalty, and business success.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1104089" y="8548858"/>
            <a:ext cx="4900244" cy="498934"/>
          </a:xfrm>
          <a:custGeom>
            <a:avLst/>
            <a:gdLst/>
            <a:ahLst/>
            <a:cxnLst/>
            <a:rect r="r" b="b" t="t" l="l"/>
            <a:pathLst>
              <a:path h="498934" w="4900244">
                <a:moveTo>
                  <a:pt x="0" y="0"/>
                </a:moveTo>
                <a:lnTo>
                  <a:pt x="4900244" y="0"/>
                </a:lnTo>
                <a:lnTo>
                  <a:pt x="4900244" y="498934"/>
                </a:lnTo>
                <a:lnTo>
                  <a:pt x="0" y="4989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DAG9KHtr3rs</dc:identifier>
  <dcterms:modified xsi:type="dcterms:W3CDTF">2011-08-01T06:04:30Z</dcterms:modified>
  <cp:revision>1</cp:revision>
  <dc:title>Turning purchase data into actionable business insights</dc:title>
</cp:coreProperties>
</file>